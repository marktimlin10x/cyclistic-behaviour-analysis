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6" r:id="rId3"/>
    <p:sldId id="257" r:id="rId4"/>
    <p:sldId id="259" r:id="rId5"/>
    <p:sldId id="264" r:id="rId6"/>
    <p:sldId id="265" r:id="rId7"/>
    <p:sldId id="266" r:id="rId8"/>
    <p:sldId id="267" r:id="rId9"/>
    <p:sldId id="263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en-A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AFA"/>
    <a:srgbClr val="FAF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89"/>
  </p:normalViewPr>
  <p:slideViewPr>
    <p:cSldViewPr snapToGrid="0">
      <p:cViewPr varScale="1">
        <p:scale>
          <a:sx n="133" d="100"/>
          <a:sy n="133" d="100"/>
        </p:scale>
        <p:origin x="160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rktimlin/Library/Mobile%20Documents/com~apple~CloudDocs/Data_Analytics/Projects/cyclistic_bike-share_analysis_1a%20/Data_Visualization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rktimlin/Library/Mobile%20Documents/com~apple~CloudDocs/Data_Analytics/Projects/cyclistic_bike-share_analysis_1a%20/Data_Visualization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rktimlin/Library/Mobile%20Documents/com~apple~CloudDocs/Data_Analytics/Projects/cyclistic_bike-share_analysis_1a%20/Data_Visualization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rktimlin/Library/Mobile%20Documents/com~apple~CloudDocs/Data_Analytics/Projects/cyclistic_bike-share_analysis_1a%20/Data_Visualization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rktimlin/Library/Mobile%20Documents/com~apple~CloudDocs/Data_Analytics/Projects/cyclistic_bike-share_analysis_1a%20/Data_Visualization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marktimlin/Library/Mobile%20Documents/com~apple~CloudDocs/Data_Analytics/Projects/cyclistic_bike-share_analysis_1a%20/Data_Visualization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3.4450368412073655E-2"/>
          <c:y val="3.4345638773970094E-2"/>
          <c:w val="0.93128355449540534"/>
          <c:h val="0.902348911385820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'5.1.total_rides'!$B$1</c:f>
              <c:strCache>
                <c:ptCount val="1"/>
                <c:pt idx="0">
                  <c:v>total_rides</c:v>
                </c:pt>
              </c:strCache>
            </c:strRef>
          </c:tx>
          <c:spPr>
            <a:solidFill>
              <a:schemeClr val="bg2"/>
            </a:solidFill>
            <a:ln w="6350">
              <a:solidFill>
                <a:schemeClr val="bg2">
                  <a:lumMod val="75000"/>
                </a:schemeClr>
              </a:solidFill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 w="6350">
                <a:solidFill>
                  <a:schemeClr val="bg2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001-7C4F-9F13-A95965B601A0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19642751-A1D9-384D-8787-07A3F4E41406}" type="CELLRANGE">
                      <a:rPr lang="en-AE"/>
                      <a:pPr/>
                      <a:t>[CELLRANGE]</a:t>
                    </a:fld>
                    <a:endParaRPr lang="en-AE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F001-7C4F-9F13-A95965B601A0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03C3792B-F2A6-CB4E-9391-7E2FE52DAE37}" type="CELLRANGE">
                      <a:rPr lang="en-AE"/>
                      <a:pPr/>
                      <a:t>[CELLRANGE]</a:t>
                    </a:fld>
                    <a:endParaRPr lang="en-AE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separator>, </c:separator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F001-7C4F-9F13-A95965B601A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t" anchorCtr="0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AE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'5.1.total_rides'!$A$2:$A$3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'5.1.total_rides'!$B$2:$B$3</c:f>
              <c:numCache>
                <c:formatCode>General</c:formatCode>
                <c:ptCount val="2"/>
                <c:pt idx="0">
                  <c:v>1915806</c:v>
                </c:pt>
                <c:pt idx="1">
                  <c:v>3484202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'5.1.total_rides'!$D$2:$D$3</c15:f>
                <c15:dlblRangeCache>
                  <c:ptCount val="2"/>
                  <c:pt idx="0">
                    <c:v>1,915,806 (35.5%)</c:v>
                  </c:pt>
                  <c:pt idx="1">
                    <c:v>3,484,202 (64.5%)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F001-7C4F-9F13-A95965B601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4"/>
        <c:overlap val="-100"/>
        <c:axId val="712400304"/>
        <c:axId val="1161882591"/>
      </c:barChart>
      <c:catAx>
        <c:axId val="712400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E"/>
          </a:p>
        </c:txPr>
        <c:crossAx val="1161882591"/>
        <c:crosses val="autoZero"/>
        <c:auto val="1"/>
        <c:lblAlgn val="ctr"/>
        <c:lblOffset val="100"/>
        <c:noMultiLvlLbl val="0"/>
      </c:catAx>
      <c:valAx>
        <c:axId val="116188259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12400304"/>
        <c:crosses val="autoZero"/>
        <c:crossBetween val="between"/>
        <c:dispUnits>
          <c:builtInUnit val="millions"/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'5.2 avg_ride_length_minutes'!$B$1</c:f>
              <c:strCache>
                <c:ptCount val="1"/>
                <c:pt idx="0">
                  <c:v>avg_ride_length_minutes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2">
                  <a:lumMod val="75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/>
              </a:solidFill>
              <a:ln w="6350">
                <a:solidFill>
                  <a:schemeClr val="bg2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663-1349-A860-F73157451E77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solidFill>
                  <a:schemeClr val="bg2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663-1349-A860-F73157451E7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B86113BA-76E9-F445-84FD-A5A17F3FEC0F}" type="CELLRANGE">
                      <a:rPr lang="en-AE"/>
                      <a:pPr/>
                      <a:t>[CELLRANGE]</a:t>
                    </a:fld>
                    <a:endParaRPr lang="en-AE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3663-1349-A860-F73157451E7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0B0EF0E-1668-894F-8B1E-CD0C0745CC94}" type="CELLRANGE">
                      <a:rPr lang="en-AE"/>
                      <a:pPr/>
                      <a:t>[CELLRANGE]</a:t>
                    </a:fld>
                    <a:endParaRPr lang="en-AE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3663-1349-A860-F73157451E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AE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'5.2 avg_ride_length_minutes'!$A$2:$A$3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'5.2 avg_ride_length_minutes'!$B$2:$B$3</c:f>
              <c:numCache>
                <c:formatCode>General</c:formatCode>
                <c:ptCount val="2"/>
                <c:pt idx="0">
                  <c:v>19.41</c:v>
                </c:pt>
                <c:pt idx="1">
                  <c:v>11.6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'5.2 avg_ride_length_minutes'!$C$2:$C$3</c15:f>
                <c15:dlblRangeCache>
                  <c:ptCount val="2"/>
                  <c:pt idx="0">
                    <c:v>19.41 min</c:v>
                  </c:pt>
                  <c:pt idx="1">
                    <c:v>11.6 min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3663-1349-A860-F73157451E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4"/>
        <c:overlap val="-100"/>
        <c:axId val="43294767"/>
        <c:axId val="1277835024"/>
      </c:barChart>
      <c:catAx>
        <c:axId val="43294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E"/>
          </a:p>
        </c:txPr>
        <c:crossAx val="1277835024"/>
        <c:crosses val="autoZero"/>
        <c:auto val="1"/>
        <c:lblAlgn val="ctr"/>
        <c:lblOffset val="100"/>
        <c:noMultiLvlLbl val="0"/>
      </c:catAx>
      <c:valAx>
        <c:axId val="1277835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32947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'5.3 Rides by Day'!$B$1</c:f>
              <c:strCache>
                <c:ptCount val="1"/>
                <c:pt idx="0">
                  <c:v>member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'5.3 Rides by Day'!$A$2:$A$8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'5.3 Rides by Day'!$B$2:$B$8</c:f>
              <c:numCache>
                <c:formatCode>General</c:formatCode>
                <c:ptCount val="7"/>
                <c:pt idx="0">
                  <c:v>493322</c:v>
                </c:pt>
                <c:pt idx="1">
                  <c:v>552529</c:v>
                </c:pt>
                <c:pt idx="2">
                  <c:v>540212</c:v>
                </c:pt>
                <c:pt idx="3">
                  <c:v>565177</c:v>
                </c:pt>
                <c:pt idx="4">
                  <c:v>518551</c:v>
                </c:pt>
                <c:pt idx="5">
                  <c:v>439876</c:v>
                </c:pt>
                <c:pt idx="6">
                  <c:v>374535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54-3549-8C08-28AC8500D137}"/>
            </c:ext>
          </c:extLst>
        </c:ser>
        <c:ser>
          <c:idx val="1"/>
          <c:order val="1"/>
          <c:tx>
            <c:strRef>
              <c:f>'5.3 Rides by Day'!$C$1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chemeClr val="bg2"/>
            </a:solidFill>
            <a:ln w="12700">
              <a:solidFill>
                <a:schemeClr val="bg2">
                  <a:lumMod val="75000"/>
                </a:scheme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/>
              </a:solidFill>
              <a:ln w="6350">
                <a:solidFill>
                  <a:schemeClr val="bg2">
                    <a:lumMod val="75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E54-3549-8C08-28AC8500D137}"/>
              </c:ext>
            </c:extLst>
          </c:dPt>
          <c:cat>
            <c:strRef>
              <c:f>'5.3 Rides by Day'!$A$2:$A$8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'5.3 Rides by Day'!$C$2:$C$8</c:f>
              <c:numCache>
                <c:formatCode>General</c:formatCode>
                <c:ptCount val="7"/>
                <c:pt idx="0">
                  <c:v>219232</c:v>
                </c:pt>
                <c:pt idx="1">
                  <c:v>216926</c:v>
                </c:pt>
                <c:pt idx="2">
                  <c:v>212744</c:v>
                </c:pt>
                <c:pt idx="3">
                  <c:v>247893</c:v>
                </c:pt>
                <c:pt idx="4">
                  <c:v>306463</c:v>
                </c:pt>
                <c:pt idx="5">
                  <c:v>395595</c:v>
                </c:pt>
                <c:pt idx="6">
                  <c:v>316953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54-3549-8C08-28AC8500D1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49602352"/>
        <c:axId val="1149557296"/>
      </c:barChart>
      <c:catAx>
        <c:axId val="1149602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E"/>
          </a:p>
        </c:txPr>
        <c:crossAx val="1149557296"/>
        <c:crosses val="autoZero"/>
        <c:auto val="1"/>
        <c:lblAlgn val="ctr"/>
        <c:lblOffset val="100"/>
        <c:noMultiLvlLbl val="0"/>
      </c:catAx>
      <c:valAx>
        <c:axId val="114955729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E"/>
          </a:p>
        </c:txPr>
        <c:crossAx val="1149602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223426483454274"/>
          <c:y val="0.93611715744379853"/>
          <c:w val="0.15240983765918148"/>
          <c:h val="5.479047339264930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'5.4 Rides by Hour of Day'!$B$1</c:f>
              <c:strCache>
                <c:ptCount val="1"/>
                <c:pt idx="0">
                  <c:v>members</c:v>
                </c:pt>
              </c:strCache>
            </c:strRef>
          </c:tx>
          <c:spPr>
            <a:ln w="38100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val>
            <c:numRef>
              <c:f>'5.4 Rides by Hour of Day'!$B$2:$B$25</c:f>
              <c:numCache>
                <c:formatCode>General</c:formatCode>
                <c:ptCount val="24"/>
                <c:pt idx="0">
                  <c:v>31391</c:v>
                </c:pt>
                <c:pt idx="1">
                  <c:v>19107</c:v>
                </c:pt>
                <c:pt idx="2">
                  <c:v>11430</c:v>
                </c:pt>
                <c:pt idx="3">
                  <c:v>7520</c:v>
                </c:pt>
                <c:pt idx="4">
                  <c:v>8606</c:v>
                </c:pt>
                <c:pt idx="5">
                  <c:v>33525</c:v>
                </c:pt>
                <c:pt idx="6">
                  <c:v>99153</c:v>
                </c:pt>
                <c:pt idx="7">
                  <c:v>196413</c:v>
                </c:pt>
                <c:pt idx="8">
                  <c:v>252034</c:v>
                </c:pt>
                <c:pt idx="9">
                  <c:v>163882</c:v>
                </c:pt>
                <c:pt idx="10">
                  <c:v>141036</c:v>
                </c:pt>
                <c:pt idx="11">
                  <c:v>165364</c:v>
                </c:pt>
                <c:pt idx="12">
                  <c:v>186824</c:v>
                </c:pt>
                <c:pt idx="13">
                  <c:v>181968</c:v>
                </c:pt>
                <c:pt idx="14">
                  <c:v>184831</c:v>
                </c:pt>
                <c:pt idx="15">
                  <c:v>232972</c:v>
                </c:pt>
                <c:pt idx="16">
                  <c:v>328673</c:v>
                </c:pt>
                <c:pt idx="17">
                  <c:v>375149</c:v>
                </c:pt>
                <c:pt idx="18">
                  <c:v>290116</c:v>
                </c:pt>
                <c:pt idx="19">
                  <c:v>200336</c:v>
                </c:pt>
                <c:pt idx="20">
                  <c:v>138362</c:v>
                </c:pt>
                <c:pt idx="21">
                  <c:v>107972</c:v>
                </c:pt>
                <c:pt idx="22">
                  <c:v>78612</c:v>
                </c:pt>
                <c:pt idx="23">
                  <c:v>48926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F0-3B4B-AA8C-3FAE8DE1C88E}"/>
            </c:ext>
          </c:extLst>
        </c:ser>
        <c:ser>
          <c:idx val="2"/>
          <c:order val="1"/>
          <c:tx>
            <c:strRef>
              <c:f>'5.4 Rides by Hour of Day'!$C$1</c:f>
              <c:strCache>
                <c:ptCount val="1"/>
                <c:pt idx="0">
                  <c:v>casual</c:v>
                </c:pt>
              </c:strCache>
            </c:strRef>
          </c:tx>
          <c:spPr>
            <a:ln w="38100" cap="rnd">
              <a:solidFill>
                <a:schemeClr val="bg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'5.4 Rides by Hour of Day'!$C$2:$C$25</c:f>
              <c:numCache>
                <c:formatCode>General</c:formatCode>
                <c:ptCount val="24"/>
                <c:pt idx="0">
                  <c:v>36762</c:v>
                </c:pt>
                <c:pt idx="1">
                  <c:v>23492</c:v>
                </c:pt>
                <c:pt idx="2">
                  <c:v>15667</c:v>
                </c:pt>
                <c:pt idx="3">
                  <c:v>8694</c:v>
                </c:pt>
                <c:pt idx="4">
                  <c:v>6941</c:v>
                </c:pt>
                <c:pt idx="5">
                  <c:v>11009</c:v>
                </c:pt>
                <c:pt idx="6">
                  <c:v>25696</c:v>
                </c:pt>
                <c:pt idx="7">
                  <c:v>47925</c:v>
                </c:pt>
                <c:pt idx="8">
                  <c:v>68010</c:v>
                </c:pt>
                <c:pt idx="9">
                  <c:v>68273</c:v>
                </c:pt>
                <c:pt idx="10">
                  <c:v>82449</c:v>
                </c:pt>
                <c:pt idx="11">
                  <c:v>105312</c:v>
                </c:pt>
                <c:pt idx="12">
                  <c:v>123711</c:v>
                </c:pt>
                <c:pt idx="13">
                  <c:v>126735</c:v>
                </c:pt>
                <c:pt idx="14">
                  <c:v>133239</c:v>
                </c:pt>
                <c:pt idx="15">
                  <c:v>148055</c:v>
                </c:pt>
                <c:pt idx="16">
                  <c:v>168789</c:v>
                </c:pt>
                <c:pt idx="17">
                  <c:v>183262</c:v>
                </c:pt>
                <c:pt idx="18">
                  <c:v>156921</c:v>
                </c:pt>
                <c:pt idx="19">
                  <c:v>116407</c:v>
                </c:pt>
                <c:pt idx="20">
                  <c:v>83803</c:v>
                </c:pt>
                <c:pt idx="21">
                  <c:v>71204</c:v>
                </c:pt>
                <c:pt idx="22">
                  <c:v>59981</c:v>
                </c:pt>
                <c:pt idx="23">
                  <c:v>43469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F0-3B4B-AA8C-3FAE8DE1C8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79888752"/>
        <c:axId val="566421872"/>
      </c:lineChart>
      <c:catAx>
        <c:axId val="1279888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E"/>
          </a:p>
        </c:txPr>
        <c:crossAx val="566421872"/>
        <c:crosses val="autoZero"/>
        <c:auto val="1"/>
        <c:lblAlgn val="ctr"/>
        <c:lblOffset val="100"/>
        <c:noMultiLvlLbl val="0"/>
      </c:catAx>
      <c:valAx>
        <c:axId val="5664218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E"/>
          </a:p>
        </c:txPr>
        <c:crossAx val="12798887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'5.5 Rides by Rideable Type'!$B$1</c:f>
              <c:strCache>
                <c:ptCount val="1"/>
                <c:pt idx="0">
                  <c:v>member</c:v>
                </c:pt>
              </c:strCache>
            </c:strRef>
          </c:tx>
          <c:spPr>
            <a:solidFill>
              <a:schemeClr val="accent5"/>
            </a:solidFill>
            <a:ln w="0">
              <a:solidFill>
                <a:schemeClr val="accent5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A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'5.5 Rides by Rideable Type'!$A$2:$A$3</c:f>
              <c:strCache>
                <c:ptCount val="2"/>
                <c:pt idx="0">
                  <c:v>electric_bike</c:v>
                </c:pt>
                <c:pt idx="1">
                  <c:v>classic_bike</c:v>
                </c:pt>
              </c:strCache>
            </c:strRef>
          </c:cat>
          <c:val>
            <c:numRef>
              <c:f>'5.5 Rides by Rideable Type'!$B$2:$B$3</c:f>
              <c:numCache>
                <c:formatCode>0.00%</c:formatCode>
                <c:ptCount val="2"/>
                <c:pt idx="0">
                  <c:v>0.63419999999999999</c:v>
                </c:pt>
                <c:pt idx="1">
                  <c:v>0.36580000000000001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D3-BC4B-8F06-9EAF950D84CE}"/>
            </c:ext>
          </c:extLst>
        </c:ser>
        <c:ser>
          <c:idx val="1"/>
          <c:order val="1"/>
          <c:tx>
            <c:strRef>
              <c:f>'5.5 Rides by Rideable Type'!$C$1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chemeClr val="bg2"/>
            </a:solidFill>
            <a:ln w="6350">
              <a:solidFill>
                <a:schemeClr val="bg2">
                  <a:lumMod val="75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A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'5.5 Rides by Rideable Type'!$A$2:$A$3</c:f>
              <c:strCache>
                <c:ptCount val="2"/>
                <c:pt idx="0">
                  <c:v>electric_bike</c:v>
                </c:pt>
                <c:pt idx="1">
                  <c:v>classic_bike</c:v>
                </c:pt>
              </c:strCache>
            </c:strRef>
          </c:cat>
          <c:val>
            <c:numRef>
              <c:f>'5.5 Rides by Rideable Type'!$C$2:$C$3</c:f>
              <c:numCache>
                <c:formatCode>0.00%</c:formatCode>
                <c:ptCount val="2"/>
                <c:pt idx="0">
                  <c:v>0.65129999999999999</c:v>
                </c:pt>
                <c:pt idx="1">
                  <c:v>0.34870000000000001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D3-BC4B-8F06-9EAF950D8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5"/>
        <c:axId val="263418111"/>
        <c:axId val="20167824"/>
      </c:barChart>
      <c:catAx>
        <c:axId val="263418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E"/>
          </a:p>
        </c:txPr>
        <c:crossAx val="20167824"/>
        <c:crosses val="autoZero"/>
        <c:auto val="1"/>
        <c:lblAlgn val="ctr"/>
        <c:lblOffset val="100"/>
        <c:noMultiLvlLbl val="0"/>
      </c:catAx>
      <c:valAx>
        <c:axId val="20167824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2634181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'5.5 Rides by Month'!$B$1</c:f>
              <c:strCache>
                <c:ptCount val="1"/>
                <c:pt idx="0">
                  <c:v>Members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'5.5 Rides by Month'!$A$2:$A$13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'5.5 Rides by Month'!$B$2:$B$13</c:f>
              <c:numCache>
                <c:formatCode>General</c:formatCode>
                <c:ptCount val="12"/>
                <c:pt idx="0">
                  <c:v>112331</c:v>
                </c:pt>
                <c:pt idx="1">
                  <c:v>122097</c:v>
                </c:pt>
                <c:pt idx="2">
                  <c:v>208458</c:v>
                </c:pt>
                <c:pt idx="3">
                  <c:v>257921</c:v>
                </c:pt>
                <c:pt idx="4">
                  <c:v>313996</c:v>
                </c:pt>
                <c:pt idx="5">
                  <c:v>379523</c:v>
                </c:pt>
                <c:pt idx="6">
                  <c:v>430394</c:v>
                </c:pt>
                <c:pt idx="7">
                  <c:v>443130</c:v>
                </c:pt>
                <c:pt idx="8">
                  <c:v>440954</c:v>
                </c:pt>
                <c:pt idx="9">
                  <c:v>414094</c:v>
                </c:pt>
                <c:pt idx="10">
                  <c:v>251924</c:v>
                </c:pt>
                <c:pt idx="11">
                  <c:v>109380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32-7946-86BE-857E38279EEB}"/>
            </c:ext>
          </c:extLst>
        </c:ser>
        <c:ser>
          <c:idx val="1"/>
          <c:order val="1"/>
          <c:tx>
            <c:strRef>
              <c:f>'5.5 Rides by Month'!$C$1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chemeClr val="bg2"/>
            </a:solidFill>
            <a:ln w="6350">
              <a:solidFill>
                <a:schemeClr val="bg2">
                  <a:lumMod val="75000"/>
                </a:schemeClr>
              </a:solidFill>
            </a:ln>
            <a:effectLst/>
          </c:spPr>
          <c:invertIfNegative val="0"/>
          <c:cat>
            <c:strRef>
              <c:f>'5.5 Rides by Month'!$A$2:$A$13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'5.5 Rides by Month'!$C$2:$C$13</c:f>
              <c:numCache>
                <c:formatCode>General</c:formatCode>
                <c:ptCount val="12"/>
                <c:pt idx="0">
                  <c:v>23405</c:v>
                </c:pt>
                <c:pt idx="1">
                  <c:v>27003</c:v>
                </c:pt>
                <c:pt idx="2">
                  <c:v>82864</c:v>
                </c:pt>
                <c:pt idx="3">
                  <c:v>105260</c:v>
                </c:pt>
                <c:pt idx="4">
                  <c:v>175655</c:v>
                </c:pt>
                <c:pt idx="5">
                  <c:v>278702</c:v>
                </c:pt>
                <c:pt idx="6">
                  <c:v>308446</c:v>
                </c:pt>
                <c:pt idx="7">
                  <c:v>323533</c:v>
                </c:pt>
                <c:pt idx="8">
                  <c:v>254727</c:v>
                </c:pt>
                <c:pt idx="9">
                  <c:v>214380</c:v>
                </c:pt>
                <c:pt idx="10">
                  <c:v>94719</c:v>
                </c:pt>
                <c:pt idx="11">
                  <c:v>27112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32-7946-86BE-857E38279E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84932400"/>
        <c:axId val="1285019328"/>
      </c:barChart>
      <c:catAx>
        <c:axId val="1284932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E"/>
          </a:p>
        </c:txPr>
        <c:crossAx val="1285019328"/>
        <c:crosses val="autoZero"/>
        <c:auto val="1"/>
        <c:lblAlgn val="ctr"/>
        <c:lblOffset val="100"/>
        <c:noMultiLvlLbl val="0"/>
      </c:catAx>
      <c:valAx>
        <c:axId val="12850193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E"/>
          </a:p>
        </c:txPr>
        <c:crossAx val="1284932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4FC00-DC4D-E3BC-8674-D8820FC074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C84F8-F734-31DD-39DE-3D8DE45E5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667EB-C912-40ED-82E9-0A7331976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AFBE-CA1D-444E-BB79-C55CC29CDE98}" type="datetimeFigureOut">
              <a:rPr lang="en-AE" smtClean="0"/>
              <a:t>20/02/2026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30D65-B5B8-926B-B59C-EFAA3DDC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F1EBE-8EE8-BD2A-989A-D7504297E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0DC8-128F-3F4C-88DC-4DDF3E7D174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4558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46EFE-61E9-8BC0-0902-41827E4BF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E92EA-1EB5-79E0-CE7A-B345F0EA2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F8A40-8CB3-781A-9AB4-8AAF8AE02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AFBE-CA1D-444E-BB79-C55CC29CDE98}" type="datetimeFigureOut">
              <a:rPr lang="en-AE" smtClean="0"/>
              <a:t>20/02/2026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46529-3695-3AC3-9231-C4E6A0499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BBCDD-30F4-DF9B-0692-F04DD9080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0DC8-128F-3F4C-88DC-4DDF3E7D174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2939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A113D-BB75-84EE-A107-3B7BD2EFA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A1ABA9-B0F7-E083-CD0E-14E29CD63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33D33-96EE-CD8B-4CAB-0658F5220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AFBE-CA1D-444E-BB79-C55CC29CDE98}" type="datetimeFigureOut">
              <a:rPr lang="en-AE" smtClean="0"/>
              <a:t>20/02/2026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ACFFB-51FD-FACB-518E-3A847A34C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FDE82-7399-375D-BBB0-D6E300575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0DC8-128F-3F4C-88DC-4DDF3E7D174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594199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335F0-8B62-9A20-EB95-4C4A1124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F1001-6E36-E005-7429-BA0F30A578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354F1-D5B4-4C91-C705-A301451E8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F9403-D943-FC7F-E05B-41339348E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AFBE-CA1D-444E-BB79-C55CC29CDE98}" type="datetimeFigureOut">
              <a:rPr lang="en-AE" smtClean="0"/>
              <a:t>20/02/2026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4C874-8A61-0461-42A2-02753F845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E205A-C23E-18C1-24E9-6E62E52AC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0DC8-128F-3F4C-88DC-4DDF3E7D174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82440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0D1BC-CABB-0FEF-B995-E9DA38B5C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F2092-40D2-520E-43FF-0D7772111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FE7D1-6C25-99D0-C536-6DFD9BA68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276DE8-9AD3-9D47-00F5-767BECB71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D860F8-BB34-AEFD-D7F0-DA82697922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12B793-74B5-2993-E383-15C578C03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AFBE-CA1D-444E-BB79-C55CC29CDE98}" type="datetimeFigureOut">
              <a:rPr lang="en-AE" smtClean="0"/>
              <a:t>20/02/2026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36EE6D-B195-DEDB-2EA9-0ABD17579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62C329-6D4F-C489-B236-77BB50861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0DC8-128F-3F4C-88DC-4DDF3E7D174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71858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FDE2A-2987-BDED-E2C8-75703E182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4E5BBD-8428-8545-E6FD-CE3721C22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AFBE-CA1D-444E-BB79-C55CC29CDE98}" type="datetimeFigureOut">
              <a:rPr lang="en-AE" smtClean="0"/>
              <a:t>20/02/2026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56263-21E0-C6C1-3042-A4F01DA71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549B8F-1B5D-19FA-FD39-7681E2720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0DC8-128F-3F4C-88DC-4DDF3E7D174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91649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5FEB4D-5AEE-2843-A185-23D953D09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AFBE-CA1D-444E-BB79-C55CC29CDE98}" type="datetimeFigureOut">
              <a:rPr lang="en-AE" smtClean="0"/>
              <a:t>20/02/2026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3F136E-9EB1-A45E-048F-A519BAC90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79D70-8BB5-A6C6-D6F0-4868A9AC1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0DC8-128F-3F4C-88DC-4DDF3E7D174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891026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F6E5C-580F-FB52-F8FD-45DDF2BA1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43EFC-C916-8808-4E5D-D9404E990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3441D6-297F-3603-DAFC-CD09C0278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1D243B-4011-2B6B-73FD-8350DD64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AFBE-CA1D-444E-BB79-C55CC29CDE98}" type="datetimeFigureOut">
              <a:rPr lang="en-AE" smtClean="0"/>
              <a:t>20/02/2026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31052-8602-78CD-604B-35E872695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5DA3C-73D8-5E8A-3126-86FE5AE2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0DC8-128F-3F4C-88DC-4DDF3E7D174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05606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ED873-3C85-7CC8-290B-8F26282A8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8E1147-F087-F462-D2EA-1949D2E61E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27F9EC-70EE-184A-0C7E-1CDCE68DA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E9CC0-DF11-248E-94A1-37BC6C425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AFBE-CA1D-444E-BB79-C55CC29CDE98}" type="datetimeFigureOut">
              <a:rPr lang="en-AE" smtClean="0"/>
              <a:t>20/02/2026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1CE58-A341-E505-6C5A-1A94A5863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B8498-AC98-1577-133B-6D926A47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0DC8-128F-3F4C-88DC-4DDF3E7D174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984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B6BF7-D8D2-4925-ED6B-60B647901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FD439D-9BC0-52F5-207E-3CBA4F801C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B6522-FC60-1CF6-088A-52034CD46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AFBE-CA1D-444E-BB79-C55CC29CDE98}" type="datetimeFigureOut">
              <a:rPr lang="en-AE" smtClean="0"/>
              <a:t>20/02/2026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286D6-A0AF-2DC0-5DC3-8DB19454A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75AE3-C2EC-8A26-7977-F45F97365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0DC8-128F-3F4C-88DC-4DDF3E7D174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770736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3160CD-D7AA-D762-A80E-7923044CB0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9D7C26-FB8D-8C35-C457-FA46FB88D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7918F-A3CD-E0A5-BDA4-C9BC7E281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AAFBE-CA1D-444E-BB79-C55CC29CDE98}" type="datetimeFigureOut">
              <a:rPr lang="en-AE" smtClean="0"/>
              <a:t>20/02/2026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4A63C-69D9-249D-0FAA-2AE9F44B2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B3970-C4ED-DB7A-C1DE-3AA4287E5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E0DC8-128F-3F4C-88DC-4DDF3E7D174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29876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9561A5-81FC-3BFB-F976-3F9CEB2A9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EEFF2-048C-74D5-3E65-B593C72AC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26092-9A53-26AA-881F-27B8296120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1AAFBE-CA1D-444E-BB79-C55CC29CDE98}" type="datetimeFigureOut">
              <a:rPr lang="en-AE" smtClean="0"/>
              <a:t>20/02/2026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EF343-B78A-054B-C9E4-EA281F890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243BD-33B3-B965-1349-3107FD283E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9E0DC8-128F-3F4C-88DC-4DDF3E7D1749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14604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4703E0-067E-036D-E139-5073F2B97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E9892-D4B9-3262-56B3-93FEB1327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3911" y="230709"/>
            <a:ext cx="9144000" cy="238760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4000" b="1" dirty="0"/>
              <a:t>Business Context</a:t>
            </a:r>
            <a:endParaRPr lang="en-AE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19F22EE-A104-76A9-DDD7-4C1C9675BB2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83911" y="2618309"/>
            <a:ext cx="10013481" cy="371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/>
              <a:t>Cyclistic aims to increase annual memberships by converting casual riders into members.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42DB49B-817F-5C09-B040-A54E6D403909}"/>
              </a:ext>
            </a:extLst>
          </p:cNvPr>
          <p:cNvSpPr txBox="1">
            <a:spLocks/>
          </p:cNvSpPr>
          <p:nvPr/>
        </p:nvSpPr>
        <p:spPr>
          <a:xfrm>
            <a:off x="1183911" y="1981199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4000" b="1" dirty="0"/>
              <a:t>Key Business Question</a:t>
            </a:r>
            <a:endParaRPr lang="en-AE" sz="40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543BFDC-C5B3-5CAA-6C39-C7FB7F219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3911" y="4368799"/>
            <a:ext cx="9387838" cy="3711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/>
              <a:t>How do annual members and casual riders differ in their riding behaviour?</a:t>
            </a:r>
          </a:p>
        </p:txBody>
      </p:sp>
    </p:spTree>
    <p:extLst>
      <p:ext uri="{BB962C8B-B14F-4D97-AF65-F5344CB8AC3E}">
        <p14:creationId xmlns:p14="http://schemas.microsoft.com/office/powerpoint/2010/main" val="3549195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96E4F-961F-5ACA-9811-0B7FD23FD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1075" y="771204"/>
            <a:ext cx="9144000" cy="238760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4400" b="1" dirty="0"/>
              <a:t>Business Objective</a:t>
            </a:r>
            <a:endParaRPr lang="en-AE" sz="4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EC1166-9A1F-D805-8FCC-A433D30B412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71075" y="3158804"/>
            <a:ext cx="9265920" cy="1432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000" dirty="0"/>
              <a:t>Use historical ride data to identify behavioural differences between casual riders and annual members to </a:t>
            </a:r>
            <a:r>
              <a:rPr lang="en-US" sz="2000" b="1" dirty="0"/>
              <a:t>inform targeted conversion strategies and increase long-term customer value.</a:t>
            </a:r>
          </a:p>
        </p:txBody>
      </p:sp>
    </p:spTree>
    <p:extLst>
      <p:ext uri="{BB962C8B-B14F-4D97-AF65-F5344CB8AC3E}">
        <p14:creationId xmlns:p14="http://schemas.microsoft.com/office/powerpoint/2010/main" val="3559061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B186AE-7334-85F6-AB32-56C35CBBD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91A88-84C2-A297-80A1-66DC97B39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2841" y="100029"/>
            <a:ext cx="10026318" cy="238760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/>
              <a:t>Members Behave Like Commuters. </a:t>
            </a:r>
            <a:br>
              <a:rPr lang="en-US" sz="4400" b="1" dirty="0"/>
            </a:br>
            <a:r>
              <a:rPr lang="en-US" sz="4400" b="1" dirty="0"/>
              <a:t>Casual Riders Behave Like Leisure Users.</a:t>
            </a:r>
            <a:endParaRPr lang="en-AE" sz="44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F7269B-6349-D86B-BCF6-6F23C25509F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82841" y="2779559"/>
            <a:ext cx="4470936" cy="1298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Members generate 64.5% of total annual rides and show clear weekday commuting patterns.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FEAFBE-ED31-14AA-2890-712434DAFB52}"/>
              </a:ext>
            </a:extLst>
          </p:cNvPr>
          <p:cNvSpPr txBox="1"/>
          <p:nvPr/>
        </p:nvSpPr>
        <p:spPr>
          <a:xfrm>
            <a:off x="1082841" y="4659800"/>
            <a:ext cx="1002631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Members use Cyclistic for routine transportation. Casual riders use it primarily for leisure.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5266B04-49B1-C62E-084F-14238021C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779559"/>
            <a:ext cx="4838299" cy="1296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Casual riders skew toward weekend and midday usage and take longer trips on average (19.4 vs 11.6 minutes).</a:t>
            </a:r>
            <a:endParaRPr kumimoji="0" lang="en-AE" altLang="en-A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868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396505-E91F-D6CA-2AC9-D966717A6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2F39ADD7-1FD8-43D4-4793-CF8E70D920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2918259"/>
              </p:ext>
            </p:extLst>
          </p:nvPr>
        </p:nvGraphicFramePr>
        <p:xfrm>
          <a:off x="2394360" y="826861"/>
          <a:ext cx="7403259" cy="49487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2E4CBE1-DF0F-135B-F655-CE69D2B1638F}"/>
              </a:ext>
            </a:extLst>
          </p:cNvPr>
          <p:cNvSpPr txBox="1"/>
          <p:nvPr/>
        </p:nvSpPr>
        <p:spPr>
          <a:xfrm>
            <a:off x="2264420" y="395973"/>
            <a:ext cx="76631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Annual members account for nearly </a:t>
            </a:r>
            <a:r>
              <a:rPr lang="en-US" sz="2200" b="1" dirty="0"/>
              <a:t>two-thirds</a:t>
            </a:r>
            <a:r>
              <a:rPr lang="en-US" sz="2200" dirty="0"/>
              <a:t> of total rides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59DD56-01A8-5C48-5D3A-F7058DC2E6C7}"/>
              </a:ext>
            </a:extLst>
          </p:cNvPr>
          <p:cNvSpPr txBox="1"/>
          <p:nvPr/>
        </p:nvSpPr>
        <p:spPr>
          <a:xfrm>
            <a:off x="3052975" y="5814109"/>
            <a:ext cx="60860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Members drive the majority of annual ride volume, making them the core revenue base of the business.</a:t>
            </a:r>
          </a:p>
        </p:txBody>
      </p:sp>
    </p:spTree>
    <p:extLst>
      <p:ext uri="{BB962C8B-B14F-4D97-AF65-F5344CB8AC3E}">
        <p14:creationId xmlns:p14="http://schemas.microsoft.com/office/powerpoint/2010/main" val="3782947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8A1E7-A257-BA35-11D8-59266887D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61E1199-5629-4AD3-8B0B-AF7364EAD763}"/>
              </a:ext>
            </a:extLst>
          </p:cNvPr>
          <p:cNvSpPr txBox="1"/>
          <p:nvPr/>
        </p:nvSpPr>
        <p:spPr>
          <a:xfrm>
            <a:off x="1817387" y="395973"/>
            <a:ext cx="855720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/>
              <a:t>Casual riders ride </a:t>
            </a:r>
            <a:r>
              <a:rPr lang="en-US" sz="2200" b="1" dirty="0"/>
              <a:t>~67% longer </a:t>
            </a:r>
            <a:r>
              <a:rPr lang="en-US" sz="2200" dirty="0"/>
              <a:t>per trip on average than members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90D0C3-2AD3-BD07-E946-92A93CE8B94B}"/>
              </a:ext>
            </a:extLst>
          </p:cNvPr>
          <p:cNvSpPr txBox="1"/>
          <p:nvPr/>
        </p:nvSpPr>
        <p:spPr>
          <a:xfrm>
            <a:off x="3052970" y="5814109"/>
            <a:ext cx="60860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Casual riders appear to use Cyclistic for extended leisure trips, while members rely on shorter, utilitarian rides.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413E3FF-DD3C-E8EC-1CD1-0F6575F352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0458657"/>
              </p:ext>
            </p:extLst>
          </p:nvPr>
        </p:nvGraphicFramePr>
        <p:xfrm>
          <a:off x="2453648" y="826860"/>
          <a:ext cx="7284679" cy="49487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55670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365B6-43C8-C9C5-AE36-B2DE1D5E6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03FEA07-C877-7F05-9C2D-7C47184309FE}"/>
              </a:ext>
            </a:extLst>
          </p:cNvPr>
          <p:cNvSpPr txBox="1"/>
          <p:nvPr/>
        </p:nvSpPr>
        <p:spPr>
          <a:xfrm>
            <a:off x="1817387" y="395973"/>
            <a:ext cx="85572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Member usage peaks on </a:t>
            </a:r>
            <a:r>
              <a:rPr lang="en-US" sz="2400" b="1" dirty="0"/>
              <a:t>weekdays.</a:t>
            </a:r>
            <a:r>
              <a:rPr lang="en-US" sz="2400" dirty="0"/>
              <a:t> </a:t>
            </a:r>
          </a:p>
          <a:p>
            <a:pPr algn="ctr"/>
            <a:r>
              <a:rPr lang="en-US" sz="2400" dirty="0"/>
              <a:t>Casual usage surges on </a:t>
            </a:r>
            <a:r>
              <a:rPr lang="en-US" sz="2400" b="1" dirty="0"/>
              <a:t>weekends.</a:t>
            </a:r>
            <a:endParaRPr lang="en-US" sz="22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949038-F6E9-2AF6-9FB3-A92E3927FF48}"/>
              </a:ext>
            </a:extLst>
          </p:cNvPr>
          <p:cNvSpPr txBox="1"/>
          <p:nvPr/>
        </p:nvSpPr>
        <p:spPr>
          <a:xfrm>
            <a:off x="2149632" y="5814109"/>
            <a:ext cx="7892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The clear weekday consistency among members and weekend surge among casual riders reinforces the commuter vs leisure behavioural divide.</a:t>
            </a: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990170E-FBBA-A547-577F-9E710D2578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0682945"/>
              </p:ext>
            </p:extLst>
          </p:nvPr>
        </p:nvGraphicFramePr>
        <p:xfrm>
          <a:off x="1724015" y="1226970"/>
          <a:ext cx="8743950" cy="42963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31800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0D2EB-AC66-CF67-F511-D16F23D67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9443F5F-352B-25CA-2C48-C3AB94E9C466}"/>
              </a:ext>
            </a:extLst>
          </p:cNvPr>
          <p:cNvSpPr txBox="1"/>
          <p:nvPr/>
        </p:nvSpPr>
        <p:spPr>
          <a:xfrm>
            <a:off x="1817386" y="492798"/>
            <a:ext cx="85572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Members exhibit clear </a:t>
            </a:r>
            <a:r>
              <a:rPr lang="en-US" sz="2400" b="1" dirty="0"/>
              <a:t>morning</a:t>
            </a:r>
            <a:r>
              <a:rPr lang="en-US" sz="2400" dirty="0"/>
              <a:t> and </a:t>
            </a:r>
            <a:r>
              <a:rPr lang="en-US" sz="2400" b="1" dirty="0"/>
              <a:t>evening</a:t>
            </a:r>
            <a:r>
              <a:rPr lang="en-US" sz="2400" dirty="0"/>
              <a:t> commute peaks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AB4C3C-802E-29FA-BBE6-81E30FAABEF2}"/>
              </a:ext>
            </a:extLst>
          </p:cNvPr>
          <p:cNvSpPr txBox="1"/>
          <p:nvPr/>
        </p:nvSpPr>
        <p:spPr>
          <a:xfrm>
            <a:off x="1524000" y="5600617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Members show clear peaks during typical commuting hours (around 8 AM and 5–6 PM), while casual usage is more spread throughout the day, further supporting the difference between commuter and leisure behaviour.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7F69525-1D6A-7694-451F-3767805EC6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8012253"/>
              </p:ext>
            </p:extLst>
          </p:nvPr>
        </p:nvGraphicFramePr>
        <p:xfrm>
          <a:off x="2153936" y="1180803"/>
          <a:ext cx="7884105" cy="43566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25376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21585-736F-1C18-6C5C-09E9DF8DB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FE63A7F-C797-85F7-7E69-2EB5399F5D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9013149"/>
              </p:ext>
            </p:extLst>
          </p:nvPr>
        </p:nvGraphicFramePr>
        <p:xfrm>
          <a:off x="2617559" y="1128069"/>
          <a:ext cx="6956859" cy="4601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013AC1B-5C51-C747-FAFA-12C611CD2FAB}"/>
              </a:ext>
            </a:extLst>
          </p:cNvPr>
          <p:cNvSpPr txBox="1"/>
          <p:nvPr/>
        </p:nvSpPr>
        <p:spPr>
          <a:xfrm>
            <a:off x="1664276" y="428127"/>
            <a:ext cx="88634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Rideable type preference is nearly </a:t>
            </a:r>
            <a:r>
              <a:rPr lang="en-US" sz="2400" b="1" dirty="0"/>
              <a:t>identical</a:t>
            </a:r>
            <a:r>
              <a:rPr lang="en-US" sz="2400" dirty="0"/>
              <a:t> across user groups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8C0CCC-60D4-0995-294E-AC1C9BE9A149}"/>
              </a:ext>
            </a:extLst>
          </p:cNvPr>
          <p:cNvSpPr txBox="1"/>
          <p:nvPr/>
        </p:nvSpPr>
        <p:spPr>
          <a:xfrm>
            <a:off x="2149632" y="5814109"/>
            <a:ext cx="7892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The near-identical distribution suggests rideable type is </a:t>
            </a:r>
            <a:r>
              <a:rPr lang="en-US" u="sng" dirty="0"/>
              <a:t>not</a:t>
            </a:r>
            <a:r>
              <a:rPr lang="en-US" dirty="0"/>
              <a:t> a key behavioural differentiator between members and casual riders.</a:t>
            </a:r>
          </a:p>
        </p:txBody>
      </p:sp>
    </p:spTree>
    <p:extLst>
      <p:ext uri="{BB962C8B-B14F-4D97-AF65-F5344CB8AC3E}">
        <p14:creationId xmlns:p14="http://schemas.microsoft.com/office/powerpoint/2010/main" val="1714384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B373F-3BAC-4E70-0F0D-431A515AF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3713D2B-2460-0658-06B5-1D16EB5527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5629601"/>
              </p:ext>
            </p:extLst>
          </p:nvPr>
        </p:nvGraphicFramePr>
        <p:xfrm>
          <a:off x="2330299" y="1219221"/>
          <a:ext cx="7531378" cy="4419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BDC05FC-661D-094A-878F-8818A0C6A263}"/>
              </a:ext>
            </a:extLst>
          </p:cNvPr>
          <p:cNvSpPr txBox="1"/>
          <p:nvPr/>
        </p:nvSpPr>
        <p:spPr>
          <a:xfrm>
            <a:off x="1817385" y="492798"/>
            <a:ext cx="85572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Both user groups follow the </a:t>
            </a:r>
            <a:r>
              <a:rPr lang="en-US" sz="2400" b="1" dirty="0"/>
              <a:t>same</a:t>
            </a:r>
            <a:r>
              <a:rPr lang="en-US" sz="2400" dirty="0"/>
              <a:t> seasonal pattern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4AF126-7AD3-360F-827F-B1C690A882F2}"/>
              </a:ext>
            </a:extLst>
          </p:cNvPr>
          <p:cNvSpPr txBox="1"/>
          <p:nvPr/>
        </p:nvSpPr>
        <p:spPr>
          <a:xfrm>
            <a:off x="2149630" y="5814109"/>
            <a:ext cx="78927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Both groups follow the same seasonal trend, indicating that seasonality alone </a:t>
            </a:r>
            <a:r>
              <a:rPr lang="en-US" u="sng" dirty="0"/>
              <a:t>does not</a:t>
            </a:r>
            <a:r>
              <a:rPr lang="en-US" dirty="0"/>
              <a:t> explain behavioural differences.</a:t>
            </a:r>
          </a:p>
        </p:txBody>
      </p:sp>
    </p:spTree>
    <p:extLst>
      <p:ext uri="{BB962C8B-B14F-4D97-AF65-F5344CB8AC3E}">
        <p14:creationId xmlns:p14="http://schemas.microsoft.com/office/powerpoint/2010/main" val="805434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C2058-1DEB-AB70-0A91-C39118160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CFCE7-B020-E6CD-37E3-1A939471B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2841" y="0"/>
            <a:ext cx="10026318" cy="238760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/>
              <a:t>Recommendations</a:t>
            </a:r>
            <a:endParaRPr lang="en-AE" sz="4400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A0B4A00-24B0-A457-2C8D-41523B12516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82841" y="2393652"/>
            <a:ext cx="9265920" cy="1035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l">
              <a:lnSpc>
                <a:spcPct val="150000"/>
              </a:lnSpc>
              <a:buAutoNum type="arabicPeriod"/>
            </a:pPr>
            <a:r>
              <a:rPr lang="en-US" sz="2000" b="1" dirty="0"/>
              <a:t>Target Frequent Weekend Riders with Conversion Incentives</a:t>
            </a:r>
          </a:p>
          <a:p>
            <a:pPr lvl="1" algn="l">
              <a:lnSpc>
                <a:spcPct val="150000"/>
              </a:lnSpc>
            </a:pPr>
            <a:r>
              <a:rPr lang="en-US" dirty="0"/>
              <a:t>Casual riders show higher weekend and leisure usage patterns.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19F3DD2-A045-EDBD-A5D4-5214647E98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293" y="3834329"/>
            <a:ext cx="9265920" cy="1272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2000" b="1" dirty="0"/>
              <a:t>Offer: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Weekend-to-weekday trial memberships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Discounted first-month membership for high-frequency casual riders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58571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D9E37-0479-3168-B011-927082F50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C6214-30A3-F1E7-6931-6756A18FC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2841" y="0"/>
            <a:ext cx="10026318" cy="238760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/>
              <a:t>Recommendations</a:t>
            </a:r>
            <a:endParaRPr lang="en-AE" sz="4400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E515D04-FD1C-F988-4487-02726118C06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82841" y="2387600"/>
            <a:ext cx="8609799" cy="1497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l">
              <a:lnSpc>
                <a:spcPct val="150000"/>
              </a:lnSpc>
              <a:buFont typeface="+mj-lt"/>
              <a:buAutoNum type="arabicPeriod" startAt="2"/>
            </a:pPr>
            <a:r>
              <a:rPr lang="en-US" sz="2000" b="1" dirty="0"/>
              <a:t>Position Membership as a Commuting Solution</a:t>
            </a:r>
          </a:p>
          <a:p>
            <a:pPr lvl="1" algn="l">
              <a:lnSpc>
                <a:spcPct val="150000"/>
              </a:lnSpc>
            </a:pPr>
            <a:r>
              <a:rPr lang="en-US" dirty="0"/>
              <a:t>Members show pronounced ride peaks during weekday commute hours, reinforcing the product’s utility value.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14F648C-8A84-303C-45E6-0E34778F5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418" y="4103430"/>
            <a:ext cx="9265920" cy="176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2000" b="1" dirty="0"/>
              <a:t>Key Messaging Focus: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Demonstrate cost savings compared to repeated single rides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Promote reliability and priority bike availability during peak hours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Emphasise</a:t>
            </a:r>
            <a:r>
              <a:rPr lang="en-US" sz="2000" dirty="0"/>
              <a:t> convenience for daily travel</a:t>
            </a:r>
            <a:endParaRPr lang="en-US" sz="2000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A43420E-BC81-61F2-E3A3-F88225664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E" altLang="en-A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Priority bike access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AE" altLang="en-A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085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B8496-74D7-7817-0CA7-B7098A01B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92A2-B077-C5E1-945B-7F3FE4D3D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2841" y="0"/>
            <a:ext cx="10026318" cy="238760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/>
              <a:t>Recommendations</a:t>
            </a:r>
            <a:endParaRPr lang="en-AE" sz="4400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4B6AB15-B030-3B3A-56DF-42FC6130975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82841" y="2387600"/>
            <a:ext cx="8609799" cy="1497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l">
              <a:lnSpc>
                <a:spcPct val="150000"/>
              </a:lnSpc>
              <a:buFont typeface="+mj-lt"/>
              <a:buAutoNum type="arabicPeriod" startAt="3"/>
            </a:pPr>
            <a:r>
              <a:rPr lang="en-US" sz="2000" b="1" dirty="0"/>
              <a:t>Implement Behaviour-Based Targeting</a:t>
            </a:r>
          </a:p>
          <a:p>
            <a:pPr lvl="1" algn="l">
              <a:lnSpc>
                <a:spcPct val="150000"/>
              </a:lnSpc>
            </a:pPr>
            <a:r>
              <a:rPr lang="en-US" dirty="0"/>
              <a:t>Cyclistic should leverage usage data to identify high-probability conversion candidates within the casual user group.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A3B24B8-F6C8-7AAA-3CBA-FE0E17457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0418" y="4103431"/>
            <a:ext cx="9265920" cy="176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2000" b="1" dirty="0"/>
              <a:t>Strategic Actions: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Identify casual riders with repeated weekend usage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Target users whose ride frequency approaches member-level activity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Deploy </a:t>
            </a:r>
            <a:r>
              <a:rPr lang="en-US" sz="2000" dirty="0" err="1"/>
              <a:t>personalised</a:t>
            </a:r>
            <a:r>
              <a:rPr lang="en-US" sz="2000" dirty="0"/>
              <a:t> in-app offers based on ride behaviour</a:t>
            </a:r>
            <a:endParaRPr lang="en-US" sz="2000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1081E36-869E-6A6E-1148-A42836290C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E" altLang="en-A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Priority bike access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AE" altLang="en-A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51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2DE41-DDC4-CEA6-378A-AA0DCD769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43005-95D3-1422-95BC-D95D6CF98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2841" y="-971349"/>
            <a:ext cx="10026318" cy="238760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/>
              <a:t>Limitations</a:t>
            </a:r>
            <a:endParaRPr lang="en-AE" sz="4400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E593A37-A011-2821-E82C-C5EAFDF33C7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82841" y="1417036"/>
            <a:ext cx="8609799" cy="1497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/>
              <a:t>No Demographic or Income Data</a:t>
            </a:r>
          </a:p>
          <a:p>
            <a:pPr lvl="1" algn="l">
              <a:lnSpc>
                <a:spcPct val="150000"/>
              </a:lnSpc>
            </a:pPr>
            <a:r>
              <a:rPr lang="en-US" dirty="0"/>
              <a:t>The dataset does not include age, income, occupation or geographic variables, limiting deeper customer segmentation.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DFA8043-947F-7984-C2AB-22080BAFE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E" altLang="en-A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Priority bike access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AE" altLang="en-A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F498D1-EDA7-A06B-ABC1-C5CADA18A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840" y="4692457"/>
            <a:ext cx="9360571" cy="1497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50000"/>
              </a:lnSpc>
              <a:buFont typeface="+mj-lt"/>
              <a:buAutoNum type="arabicPeriod" startAt="3"/>
            </a:pPr>
            <a:r>
              <a:rPr lang="en-US" sz="2000" b="1" dirty="0"/>
              <a:t>Observational Data Only</a:t>
            </a:r>
          </a:p>
          <a:p>
            <a:pPr lvl="1" algn="l">
              <a:lnSpc>
                <a:spcPct val="150000"/>
              </a:lnSpc>
            </a:pPr>
            <a:r>
              <a:rPr lang="en-US" dirty="0"/>
              <a:t>The analysis is based on historical behaviour and does not establish causality. Recommendations would require A/B testing before implementation.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21AF330-61BC-57A6-F4E2-78E3CF9BF1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840" y="3054746"/>
            <a:ext cx="8609799" cy="1497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50000"/>
              </a:lnSpc>
              <a:buFont typeface="+mj-lt"/>
              <a:buAutoNum type="arabicPeriod" startAt="2"/>
            </a:pPr>
            <a:r>
              <a:rPr lang="en-US" sz="2000" b="1" dirty="0"/>
              <a:t>Revenue Data Not Included</a:t>
            </a:r>
          </a:p>
          <a:p>
            <a:pPr lvl="1" algn="l">
              <a:lnSpc>
                <a:spcPct val="150000"/>
              </a:lnSpc>
            </a:pPr>
            <a:r>
              <a:rPr lang="en-US" dirty="0"/>
              <a:t>Ride counts were </a:t>
            </a:r>
            <a:r>
              <a:rPr lang="en-US" dirty="0" err="1"/>
              <a:t>analysed</a:t>
            </a:r>
            <a:r>
              <a:rPr lang="en-US" dirty="0"/>
              <a:t>, but pricing and profitability data were unavailable. This limits direct estimation of financial impact.</a:t>
            </a:r>
          </a:p>
        </p:txBody>
      </p:sp>
    </p:spTree>
    <p:extLst>
      <p:ext uri="{BB962C8B-B14F-4D97-AF65-F5344CB8AC3E}">
        <p14:creationId xmlns:p14="http://schemas.microsoft.com/office/powerpoint/2010/main" val="2991488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E1811-1F13-BDE5-E373-4EC006811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CDE77-5435-AD14-3393-8979A049A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2841" y="-419953"/>
            <a:ext cx="10026318" cy="2387600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/>
              <a:t>Conclusion</a:t>
            </a:r>
            <a:endParaRPr lang="en-AE" sz="4400" b="1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00990AC-BA9D-1504-8989-7DBFE613D97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082841" y="1967647"/>
            <a:ext cx="8609799" cy="4059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dirty="0"/>
              <a:t>The analysis reveals clear behavioural differences between members and casual riders: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Members for weekday commuting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Casual riders for weekend and leisure usage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Rideable type preference and seasonal trends are nearly identical across both groups.</a:t>
            </a:r>
          </a:p>
          <a:p>
            <a:pPr algn="l"/>
            <a:r>
              <a:rPr lang="en-US" sz="2000" dirty="0"/>
              <a:t>These findings suggest that conversion efforts should focus on behavioural differences — particularly ride timing and frequency — rather than product preference.</a:t>
            </a:r>
          </a:p>
          <a:p>
            <a:pPr algn="l"/>
            <a:r>
              <a:rPr lang="en-US" sz="2000" dirty="0"/>
              <a:t>Targeting high-engagement weekend riders and reinforcing the commuter value of membership present the strongest opportunities for increasing annual subscriptions.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887EA56-9AE3-AACB-4313-24EF7A924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E" altLang="en-A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Priority bike access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AE" altLang="en-A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248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604</Words>
  <Application>Microsoft Macintosh PowerPoint</Application>
  <PresentationFormat>Widescreen</PresentationFormat>
  <Paragraphs>61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Business Context</vt:lpstr>
      <vt:lpstr>Business Objective</vt:lpstr>
      <vt:lpstr>Members Behave Like Commuters.  Casual Riders Behave Like Leisure Users.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Recommendations</vt:lpstr>
      <vt:lpstr>Recommendations</vt:lpstr>
      <vt:lpstr>Recommendations</vt:lpstr>
      <vt:lpstr>Limitations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Timlin</dc:creator>
  <cp:lastModifiedBy>Mark Timlin</cp:lastModifiedBy>
  <cp:revision>4</cp:revision>
  <dcterms:created xsi:type="dcterms:W3CDTF">2026-02-20T05:39:49Z</dcterms:created>
  <dcterms:modified xsi:type="dcterms:W3CDTF">2026-02-20T11:12:02Z</dcterms:modified>
</cp:coreProperties>
</file>